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86434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F9D9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Guns 'n Lasers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F9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ECE 554 Capstone - Progress Check-In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TTL-triggered waveform sequencer on the Red Pitaya, extending Linien's FPGA gateware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38404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Kshitij Pandey  ·  Vedaant Nookala  ·  Ethan Li  ·  Tejas Babel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Advisor: Steven Carpenter (PhD)  ·  Prof. Jennifer Choy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F9D9F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F9D9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 breakdown &amp; status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852160" y="164592"/>
            <a:ext cx="182880" cy="182880"/>
          </a:xfrm>
          <a:prstGeom prst="rect">
            <a:avLst/>
          </a:prstGeom>
          <a:solidFill>
            <a:srgbClr val="2ECC7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080760" y="1188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675120" y="164592"/>
            <a:ext cx="182880" cy="182880"/>
          </a:xfrm>
          <a:prstGeom prst="rect">
            <a:avLst/>
          </a:prstGeom>
          <a:solidFill>
            <a:srgbClr val="F1C40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03720" y="1188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1C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0" y="164592"/>
            <a:ext cx="182880" cy="182880"/>
          </a:xfrm>
          <a:prstGeom prst="rect">
            <a:avLst/>
          </a:prstGeom>
          <a:solidFill>
            <a:srgbClr val="7F8C8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001000" y="1188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started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4572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325880" y="4572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892040" y="45720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263640" y="4572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658368"/>
            <a:ext cx="8229600" cy="201168"/>
          </a:xfrm>
          <a:prstGeom prst="rect">
            <a:avLst/>
          </a:prstGeom>
          <a:solidFill>
            <a:srgbClr val="1C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48640" y="6583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F9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ARCHITECTURE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868680"/>
            <a:ext cx="8229600" cy="246888"/>
          </a:xfrm>
          <a:prstGeom prst="rect">
            <a:avLst/>
          </a:prstGeom>
          <a:solidFill>
            <a:srgbClr val="1621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48640" y="905256"/>
            <a:ext cx="594360" cy="164592"/>
          </a:xfrm>
          <a:prstGeom prst="rect">
            <a:avLst/>
          </a:prstGeom>
          <a:solidFill>
            <a:srgbClr val="2ECC71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48640" y="88696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280160" y="877824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microarchitecture doc (updated)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892040" y="877824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Kshitij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263640" y="87782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modules specified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" y="1143000"/>
            <a:ext cx="8229600" cy="246888"/>
          </a:xfrm>
          <a:prstGeom prst="rect">
            <a:avLst/>
          </a:prstGeom>
          <a:solidFill>
            <a:srgbClr val="1621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48640" y="1179576"/>
            <a:ext cx="594360" cy="164592"/>
          </a:xfrm>
          <a:prstGeom prst="rect">
            <a:avLst/>
          </a:prstGeom>
          <a:solidFill>
            <a:srgbClr val="2ECC71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48640" y="116128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280160" y="1152144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top-level block diagram + signals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92040" y="1152144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63640" y="115214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 w/ team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57200" y="1417320"/>
            <a:ext cx="8229600" cy="246888"/>
          </a:xfrm>
          <a:prstGeom prst="rect">
            <a:avLst/>
          </a:prstGeom>
          <a:solidFill>
            <a:srgbClr val="1621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548640" y="1453896"/>
            <a:ext cx="594360" cy="164592"/>
          </a:xfrm>
          <a:prstGeom prst="rect">
            <a:avLst/>
          </a:prstGeom>
          <a:solidFill>
            <a:srgbClr val="2ECC71">
              <a:alpha val="20000"/>
            </a:srgb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143560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280160" y="1426464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FSM spec + function block interface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892040" y="1426464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Vedaant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63640" y="142646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i_/o_ convention, param bus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57200" y="1691640"/>
            <a:ext cx="8229600" cy="201168"/>
          </a:xfrm>
          <a:prstGeom prst="rect">
            <a:avLst/>
          </a:prstGeom>
          <a:solidFill>
            <a:srgbClr val="1C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48640" y="16916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F9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 MODULES (MIGEN)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57200" y="1920240"/>
            <a:ext cx="8229600" cy="246888"/>
          </a:xfrm>
          <a:prstGeom prst="rect">
            <a:avLst/>
          </a:prstGeom>
          <a:solidFill>
            <a:srgbClr val="16213E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548640" y="1938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1280160" y="1929384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ttl_handler + tb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892040" y="1929384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Kshitij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263640" y="192938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sync, snapshot, FSM, edge cases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457200" y="2194560"/>
            <a:ext cx="8229600" cy="246888"/>
          </a:xfrm>
          <a:prstGeom prst="rect">
            <a:avLst/>
          </a:prstGeom>
          <a:solidFill>
            <a:srgbClr val="1621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548640" y="221284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1280160" y="2203704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sequence_fsm (dispatch + mux)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892040" y="2203704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(Mostly Ethan)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263640" y="220370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 loading logic in progress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457200" y="2468880"/>
            <a:ext cx="8229600" cy="246888"/>
          </a:xfrm>
          <a:prstGeom prst="rect">
            <a:avLst/>
          </a:prstGeom>
          <a:solidFill>
            <a:srgbClr val="1621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548640" y="248716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1280160" y="2478024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ramp_gen (accumulator + target check)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892040" y="2478024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263640" y="247802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timer, golden model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457200" y="2743200"/>
            <a:ext cx="8229600" cy="246888"/>
          </a:xfrm>
          <a:prstGeom prst="rect">
            <a:avLst/>
          </a:prstGeom>
          <a:solidFill>
            <a:srgbClr val="1621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548640" y="276148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1280160" y="2752344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voltage jump / delay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4892040" y="2752344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263640" y="275234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counters + linien CORDIC reuse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57200" y="3017520"/>
            <a:ext cx="8229600" cy="246888"/>
          </a:xfrm>
          <a:prstGeom prst="rect">
            <a:avLst/>
          </a:prstGeom>
          <a:solidFill>
            <a:srgbClr val="1621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548640" y="303580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1280160" y="3026664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Sinusoid / </a:t>
            </a:r>
            <a:r>
              <a:rPr lang="en-US" sz="900" dirty="0" err="1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chirp_gen</a:t>
            </a: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(variable NCO)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4892040" y="3026664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6263640" y="302666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linien CORDIC hookup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457200" y="3291840"/>
            <a:ext cx="8229600" cy="246888"/>
          </a:xfrm>
          <a:prstGeom prst="rect">
            <a:avLst/>
          </a:prstGeom>
          <a:solidFill>
            <a:srgbClr val="1621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548640" y="33101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1280160" y="3300984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arb_wfm_gen (BRAM + clk divider)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4892040" y="3300984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6263640" y="330098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 write path first, AXI later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57200" y="3566160"/>
            <a:ext cx="8229600" cy="246888"/>
          </a:xfrm>
          <a:prstGeom prst="rect">
            <a:avLst/>
          </a:prstGeom>
          <a:solidFill>
            <a:srgbClr val="1621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548640" y="3602736"/>
            <a:ext cx="594360" cy="164592"/>
          </a:xfrm>
          <a:prstGeom prst="rect">
            <a:avLst/>
          </a:prstGeom>
          <a:solidFill>
            <a:srgbClr val="7F8C8D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548640" y="358444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1280160" y="3575304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pzt_overdrive (reach goal)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4892040" y="3575304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6263640" y="357530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depends on core blocks being done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457200" y="3840480"/>
            <a:ext cx="8229600" cy="201168"/>
          </a:xfrm>
          <a:prstGeom prst="rect">
            <a:avLst/>
          </a:prstGeom>
          <a:solidFill>
            <a:srgbClr val="1C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548640" y="38404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F9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&amp; SOFTWARE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57200" y="4069080"/>
            <a:ext cx="8229600" cy="246888"/>
          </a:xfrm>
          <a:prstGeom prst="rect">
            <a:avLst/>
          </a:prstGeom>
          <a:solidFill>
            <a:srgbClr val="1621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" name="Text 80"/>
          <p:cNvSpPr/>
          <p:nvPr/>
        </p:nvSpPr>
        <p:spPr>
          <a:xfrm>
            <a:off x="548640" y="408736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1280160" y="4078224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relock (sweep + autolock handshake)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4892040" y="4078224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Kshitij + Ethan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6263640" y="407822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to trace linien autolock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457200" y="4343400"/>
            <a:ext cx="8229600" cy="246888"/>
          </a:xfrm>
          <a:prstGeom prst="rect">
            <a:avLst/>
          </a:prstGeom>
          <a:solidFill>
            <a:srgbClr val="1621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1280160" y="4352544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top-level TB (full 2-block sequence)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4892040" y="4352544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900" dirty="0"/>
          </a:p>
        </p:txBody>
      </p:sp>
      <p:sp>
        <p:nvSpPr>
          <p:cNvPr id="91" name="Text 89"/>
          <p:cNvSpPr/>
          <p:nvPr/>
        </p:nvSpPr>
        <p:spPr>
          <a:xfrm>
            <a:off x="6263640" y="435254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model + cycle-accurate check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457200" y="4617720"/>
            <a:ext cx="8229600" cy="246888"/>
          </a:xfrm>
          <a:prstGeom prst="rect">
            <a:avLst/>
          </a:prstGeom>
          <a:solidFill>
            <a:srgbClr val="1621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4" name="Text 92"/>
          <p:cNvSpPr/>
          <p:nvPr/>
        </p:nvSpPr>
        <p:spPr>
          <a:xfrm>
            <a:off x="548640" y="463600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1280160" y="4626864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extension + server/compiler</a:t>
            </a:r>
            <a:endParaRPr lang="en-US" sz="900" dirty="0"/>
          </a:p>
        </p:txBody>
      </p:sp>
      <p:sp>
        <p:nvSpPr>
          <p:cNvPr id="96" name="Text 94"/>
          <p:cNvSpPr/>
          <p:nvPr/>
        </p:nvSpPr>
        <p:spPr>
          <a:xfrm>
            <a:off x="4892040" y="4626864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Vedaant/Tejas</a:t>
            </a:r>
            <a:endParaRPr lang="en-US" sz="900" dirty="0"/>
          </a:p>
        </p:txBody>
      </p:sp>
      <p:sp>
        <p:nvSpPr>
          <p:cNvPr id="97" name="Text 95"/>
          <p:cNvSpPr/>
          <p:nvPr/>
        </p:nvSpPr>
        <p:spPr>
          <a:xfrm>
            <a:off x="6263640" y="462686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RTL is solid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457200" y="4892040"/>
            <a:ext cx="8229600" cy="246888"/>
          </a:xfrm>
          <a:prstGeom prst="rect">
            <a:avLst/>
          </a:prstGeom>
          <a:solidFill>
            <a:srgbClr val="1621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548640" y="4928616"/>
            <a:ext cx="594360" cy="164592"/>
          </a:xfrm>
          <a:prstGeom prst="rect">
            <a:avLst/>
          </a:prstGeom>
          <a:solidFill>
            <a:srgbClr val="7F8C8D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0" name="Text 98"/>
          <p:cNvSpPr/>
          <p:nvPr/>
        </p:nvSpPr>
        <p:spPr>
          <a:xfrm>
            <a:off x="548640" y="49103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</a:t>
            </a:r>
            <a:endParaRPr lang="en-US" sz="700" dirty="0"/>
          </a:p>
        </p:txBody>
      </p:sp>
      <p:sp>
        <p:nvSpPr>
          <p:cNvPr id="101" name="Text 99"/>
          <p:cNvSpPr/>
          <p:nvPr/>
        </p:nvSpPr>
        <p:spPr>
          <a:xfrm>
            <a:off x="1280160" y="4901184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test on Red Pitaya</a:t>
            </a:r>
            <a:endParaRPr lang="en-US" sz="900" dirty="0"/>
          </a:p>
        </p:txBody>
      </p:sp>
      <p:sp>
        <p:nvSpPr>
          <p:cNvPr id="102" name="Text 100"/>
          <p:cNvSpPr/>
          <p:nvPr/>
        </p:nvSpPr>
        <p:spPr>
          <a:xfrm>
            <a:off x="4892040" y="4901184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900" dirty="0"/>
          </a:p>
        </p:txBody>
      </p:sp>
      <p:sp>
        <p:nvSpPr>
          <p:cNvPr id="103" name="Text 101"/>
          <p:cNvSpPr/>
          <p:nvPr/>
        </p:nvSpPr>
        <p:spPr>
          <a:xfrm>
            <a:off x="6263640" y="490118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 lab sessions in April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F9D9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6" name="Text 44">
            <a:extLst>
              <a:ext uri="{FF2B5EF4-FFF2-40B4-BE49-F238E27FC236}">
                <a16:creationId xmlns:a16="http://schemas.microsoft.com/office/drawing/2014/main" id="{0237A8B9-4DDC-D159-045A-FD8F732998C1}"/>
              </a:ext>
            </a:extLst>
          </p:cNvPr>
          <p:cNvSpPr/>
          <p:nvPr/>
        </p:nvSpPr>
        <p:spPr>
          <a:xfrm>
            <a:off x="4892040" y="274777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Ethan</a:t>
            </a:r>
            <a:endParaRPr lang="en-US" sz="900" dirty="0"/>
          </a:p>
        </p:txBody>
      </p:sp>
      <p:sp>
        <p:nvSpPr>
          <p:cNvPr id="107" name="Text 44">
            <a:extLst>
              <a:ext uri="{FF2B5EF4-FFF2-40B4-BE49-F238E27FC236}">
                <a16:creationId xmlns:a16="http://schemas.microsoft.com/office/drawing/2014/main" id="{2AD270D3-8801-2BD6-796D-D4FE28CC7361}"/>
              </a:ext>
            </a:extLst>
          </p:cNvPr>
          <p:cNvSpPr/>
          <p:nvPr/>
        </p:nvSpPr>
        <p:spPr>
          <a:xfrm>
            <a:off x="4892040" y="32964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Vedaant</a:t>
            </a:r>
            <a:endParaRPr lang="en-US" sz="900" dirty="0"/>
          </a:p>
        </p:txBody>
      </p:sp>
      <p:sp>
        <p:nvSpPr>
          <p:cNvPr id="108" name="Text 44">
            <a:extLst>
              <a:ext uri="{FF2B5EF4-FFF2-40B4-BE49-F238E27FC236}">
                <a16:creationId xmlns:a16="http://schemas.microsoft.com/office/drawing/2014/main" id="{566445FA-2829-72E8-A864-67ACEDD31A50}"/>
              </a:ext>
            </a:extLst>
          </p:cNvPr>
          <p:cNvSpPr/>
          <p:nvPr/>
        </p:nvSpPr>
        <p:spPr>
          <a:xfrm>
            <a:off x="4892040" y="3026664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Ethan &amp; Tejas (Mostly Tejas)</a:t>
            </a:r>
            <a:endParaRPr lang="en-US" sz="900" dirty="0"/>
          </a:p>
        </p:txBody>
      </p:sp>
      <p:sp>
        <p:nvSpPr>
          <p:cNvPr id="109" name="Text 38">
            <a:extLst>
              <a:ext uri="{FF2B5EF4-FFF2-40B4-BE49-F238E27FC236}">
                <a16:creationId xmlns:a16="http://schemas.microsoft.com/office/drawing/2014/main" id="{3EF7318A-542F-B1E3-06CB-5463EBEB07EC}"/>
              </a:ext>
            </a:extLst>
          </p:cNvPr>
          <p:cNvSpPr/>
          <p:nvPr/>
        </p:nvSpPr>
        <p:spPr>
          <a:xfrm>
            <a:off x="4892040" y="2482596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Kshitij</a:t>
            </a:r>
            <a:endParaRPr lang="en-US" sz="900" dirty="0"/>
          </a:p>
        </p:txBody>
      </p:sp>
      <p:sp>
        <p:nvSpPr>
          <p:cNvPr id="113" name="Text 48">
            <a:extLst>
              <a:ext uri="{FF2B5EF4-FFF2-40B4-BE49-F238E27FC236}">
                <a16:creationId xmlns:a16="http://schemas.microsoft.com/office/drawing/2014/main" id="{C837FC6B-E1C6-17A2-FB18-B043F8EB8BC6}"/>
              </a:ext>
            </a:extLst>
          </p:cNvPr>
          <p:cNvSpPr/>
          <p:nvPr/>
        </p:nvSpPr>
        <p:spPr>
          <a:xfrm>
            <a:off x="543560" y="276148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700" dirty="0"/>
          </a:p>
        </p:txBody>
      </p:sp>
      <p:sp>
        <p:nvSpPr>
          <p:cNvPr id="114" name="Text 48">
            <a:extLst>
              <a:ext uri="{FF2B5EF4-FFF2-40B4-BE49-F238E27FC236}">
                <a16:creationId xmlns:a16="http://schemas.microsoft.com/office/drawing/2014/main" id="{F5B7F9E1-64D0-3085-2834-FD6640EE7CCA}"/>
              </a:ext>
            </a:extLst>
          </p:cNvPr>
          <p:cNvSpPr/>
          <p:nvPr/>
        </p:nvSpPr>
        <p:spPr>
          <a:xfrm>
            <a:off x="548640" y="303580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700" dirty="0"/>
          </a:p>
        </p:txBody>
      </p:sp>
      <p:sp>
        <p:nvSpPr>
          <p:cNvPr id="115" name="Text 48">
            <a:extLst>
              <a:ext uri="{FF2B5EF4-FFF2-40B4-BE49-F238E27FC236}">
                <a16:creationId xmlns:a16="http://schemas.microsoft.com/office/drawing/2014/main" id="{10E10A8B-93AE-042F-3F68-F5A7F4675A35}"/>
              </a:ext>
            </a:extLst>
          </p:cNvPr>
          <p:cNvSpPr/>
          <p:nvPr/>
        </p:nvSpPr>
        <p:spPr>
          <a:xfrm>
            <a:off x="553720" y="3301492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700" dirty="0"/>
          </a:p>
        </p:txBody>
      </p:sp>
      <p:sp>
        <p:nvSpPr>
          <p:cNvPr id="119" name="Text 48">
            <a:extLst>
              <a:ext uri="{FF2B5EF4-FFF2-40B4-BE49-F238E27FC236}">
                <a16:creationId xmlns:a16="http://schemas.microsoft.com/office/drawing/2014/main" id="{1715FB0B-0383-5712-3113-1A525014ECF3}"/>
              </a:ext>
            </a:extLst>
          </p:cNvPr>
          <p:cNvSpPr/>
          <p:nvPr/>
        </p:nvSpPr>
        <p:spPr>
          <a:xfrm>
            <a:off x="548640" y="4357116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700" dirty="0"/>
          </a:p>
        </p:txBody>
      </p:sp>
      <p:sp>
        <p:nvSpPr>
          <p:cNvPr id="61" name="Shape 15">
            <a:extLst>
              <a:ext uri="{FF2B5EF4-FFF2-40B4-BE49-F238E27FC236}">
                <a16:creationId xmlns:a16="http://schemas.microsoft.com/office/drawing/2014/main" id="{AC3274C3-8EC2-4CA8-A64B-EEDA3F68ED56}"/>
              </a:ext>
            </a:extLst>
          </p:cNvPr>
          <p:cNvSpPr/>
          <p:nvPr/>
        </p:nvSpPr>
        <p:spPr>
          <a:xfrm>
            <a:off x="548640" y="1952244"/>
            <a:ext cx="594360" cy="164592"/>
          </a:xfrm>
          <a:prstGeom prst="rect">
            <a:avLst/>
          </a:prstGeom>
          <a:solidFill>
            <a:srgbClr val="2ECC71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Shape 21">
            <a:extLst>
              <a:ext uri="{FF2B5EF4-FFF2-40B4-BE49-F238E27FC236}">
                <a16:creationId xmlns:a16="http://schemas.microsoft.com/office/drawing/2014/main" id="{8958C1FE-E565-17D7-A7A9-4B58E1B4E7B0}"/>
              </a:ext>
            </a:extLst>
          </p:cNvPr>
          <p:cNvSpPr/>
          <p:nvPr/>
        </p:nvSpPr>
        <p:spPr>
          <a:xfrm>
            <a:off x="548640" y="2226564"/>
            <a:ext cx="594360" cy="164592"/>
          </a:xfrm>
          <a:prstGeom prst="rect">
            <a:avLst/>
          </a:prstGeom>
          <a:solidFill>
            <a:srgbClr val="2ECC71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7" name="Shape 27">
            <a:extLst>
              <a:ext uri="{FF2B5EF4-FFF2-40B4-BE49-F238E27FC236}">
                <a16:creationId xmlns:a16="http://schemas.microsoft.com/office/drawing/2014/main" id="{27E1D297-2993-ED94-17F8-BCE151FD785C}"/>
              </a:ext>
            </a:extLst>
          </p:cNvPr>
          <p:cNvSpPr/>
          <p:nvPr/>
        </p:nvSpPr>
        <p:spPr>
          <a:xfrm>
            <a:off x="548640" y="2500884"/>
            <a:ext cx="594360" cy="164592"/>
          </a:xfrm>
          <a:prstGeom prst="rect">
            <a:avLst/>
          </a:prstGeom>
          <a:solidFill>
            <a:srgbClr val="2ECC71">
              <a:alpha val="20000"/>
            </a:srgb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88" name="Shape 15">
            <a:extLst>
              <a:ext uri="{FF2B5EF4-FFF2-40B4-BE49-F238E27FC236}">
                <a16:creationId xmlns:a16="http://schemas.microsoft.com/office/drawing/2014/main" id="{74DE9B6E-9CE4-F3F7-5A08-793D0665CB64}"/>
              </a:ext>
            </a:extLst>
          </p:cNvPr>
          <p:cNvSpPr/>
          <p:nvPr/>
        </p:nvSpPr>
        <p:spPr>
          <a:xfrm>
            <a:off x="553720" y="2777236"/>
            <a:ext cx="594360" cy="164592"/>
          </a:xfrm>
          <a:prstGeom prst="rect">
            <a:avLst/>
          </a:prstGeom>
          <a:solidFill>
            <a:srgbClr val="2ECC71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6" name="Shape 21">
            <a:extLst>
              <a:ext uri="{FF2B5EF4-FFF2-40B4-BE49-F238E27FC236}">
                <a16:creationId xmlns:a16="http://schemas.microsoft.com/office/drawing/2014/main" id="{5D7E4D60-1946-BFD1-5B86-197281C07273}"/>
              </a:ext>
            </a:extLst>
          </p:cNvPr>
          <p:cNvSpPr/>
          <p:nvPr/>
        </p:nvSpPr>
        <p:spPr>
          <a:xfrm>
            <a:off x="553720" y="3051556"/>
            <a:ext cx="594360" cy="164592"/>
          </a:xfrm>
          <a:prstGeom prst="rect">
            <a:avLst/>
          </a:prstGeom>
          <a:solidFill>
            <a:srgbClr val="2ECC71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7" name="Shape 27">
            <a:extLst>
              <a:ext uri="{FF2B5EF4-FFF2-40B4-BE49-F238E27FC236}">
                <a16:creationId xmlns:a16="http://schemas.microsoft.com/office/drawing/2014/main" id="{64D344BB-CAB7-9DC5-933D-1793672A308C}"/>
              </a:ext>
            </a:extLst>
          </p:cNvPr>
          <p:cNvSpPr/>
          <p:nvPr/>
        </p:nvSpPr>
        <p:spPr>
          <a:xfrm>
            <a:off x="553720" y="3325876"/>
            <a:ext cx="594360" cy="164592"/>
          </a:xfrm>
          <a:prstGeom prst="rect">
            <a:avLst/>
          </a:prstGeom>
          <a:solidFill>
            <a:srgbClr val="2ECC71">
              <a:alpha val="20000"/>
            </a:srgb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20" name="Shape 41">
            <a:extLst>
              <a:ext uri="{FF2B5EF4-FFF2-40B4-BE49-F238E27FC236}">
                <a16:creationId xmlns:a16="http://schemas.microsoft.com/office/drawing/2014/main" id="{E20A99A8-0E82-DB33-E28F-6FDF8668713A}"/>
              </a:ext>
            </a:extLst>
          </p:cNvPr>
          <p:cNvSpPr/>
          <p:nvPr/>
        </p:nvSpPr>
        <p:spPr>
          <a:xfrm>
            <a:off x="543560" y="4105656"/>
            <a:ext cx="594360" cy="164592"/>
          </a:xfrm>
          <a:prstGeom prst="rect">
            <a:avLst/>
          </a:prstGeom>
          <a:solidFill>
            <a:srgbClr val="F1C40F">
              <a:alpha val="20000"/>
            </a:srgb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21" name="Text 48">
            <a:extLst>
              <a:ext uri="{FF2B5EF4-FFF2-40B4-BE49-F238E27FC236}">
                <a16:creationId xmlns:a16="http://schemas.microsoft.com/office/drawing/2014/main" id="{A305A59E-C93A-E925-61C1-5CF4D8DEA13A}"/>
              </a:ext>
            </a:extLst>
          </p:cNvPr>
          <p:cNvSpPr/>
          <p:nvPr/>
        </p:nvSpPr>
        <p:spPr>
          <a:xfrm>
            <a:off x="541528" y="409194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00" b="1" dirty="0">
                <a:solidFill>
                  <a:srgbClr val="F1C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</a:t>
            </a:r>
            <a:endParaRPr lang="en-US" sz="700" dirty="0"/>
          </a:p>
        </p:txBody>
      </p:sp>
      <p:sp>
        <p:nvSpPr>
          <p:cNvPr id="128" name="Text 16">
            <a:extLst>
              <a:ext uri="{FF2B5EF4-FFF2-40B4-BE49-F238E27FC236}">
                <a16:creationId xmlns:a16="http://schemas.microsoft.com/office/drawing/2014/main" id="{B35E9726-EA71-D0FD-918F-193C0E1BA9A9}"/>
              </a:ext>
            </a:extLst>
          </p:cNvPr>
          <p:cNvSpPr/>
          <p:nvPr/>
        </p:nvSpPr>
        <p:spPr>
          <a:xfrm>
            <a:off x="543560" y="1929384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700" dirty="0"/>
          </a:p>
        </p:txBody>
      </p:sp>
      <p:sp>
        <p:nvSpPr>
          <p:cNvPr id="129" name="Text 22">
            <a:extLst>
              <a:ext uri="{FF2B5EF4-FFF2-40B4-BE49-F238E27FC236}">
                <a16:creationId xmlns:a16="http://schemas.microsoft.com/office/drawing/2014/main" id="{2C493311-8E8B-B184-F602-C680D4629059}"/>
              </a:ext>
            </a:extLst>
          </p:cNvPr>
          <p:cNvSpPr/>
          <p:nvPr/>
        </p:nvSpPr>
        <p:spPr>
          <a:xfrm>
            <a:off x="543560" y="2203704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700" dirty="0"/>
          </a:p>
        </p:txBody>
      </p:sp>
      <p:sp>
        <p:nvSpPr>
          <p:cNvPr id="130" name="Text 28">
            <a:extLst>
              <a:ext uri="{FF2B5EF4-FFF2-40B4-BE49-F238E27FC236}">
                <a16:creationId xmlns:a16="http://schemas.microsoft.com/office/drawing/2014/main" id="{7235C198-ED7F-23E2-766C-B40F13BA0149}"/>
              </a:ext>
            </a:extLst>
          </p:cNvPr>
          <p:cNvSpPr/>
          <p:nvPr/>
        </p:nvSpPr>
        <p:spPr>
          <a:xfrm>
            <a:off x="543560" y="2478024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700" dirty="0"/>
          </a:p>
        </p:txBody>
      </p:sp>
      <p:sp>
        <p:nvSpPr>
          <p:cNvPr id="131" name="Text 16">
            <a:extLst>
              <a:ext uri="{FF2B5EF4-FFF2-40B4-BE49-F238E27FC236}">
                <a16:creationId xmlns:a16="http://schemas.microsoft.com/office/drawing/2014/main" id="{EEF9F1A4-785F-ED40-588C-63081F5B120C}"/>
              </a:ext>
            </a:extLst>
          </p:cNvPr>
          <p:cNvSpPr/>
          <p:nvPr/>
        </p:nvSpPr>
        <p:spPr>
          <a:xfrm>
            <a:off x="535432" y="276148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700" dirty="0"/>
          </a:p>
        </p:txBody>
      </p:sp>
      <p:sp>
        <p:nvSpPr>
          <p:cNvPr id="132" name="Text 22">
            <a:extLst>
              <a:ext uri="{FF2B5EF4-FFF2-40B4-BE49-F238E27FC236}">
                <a16:creationId xmlns:a16="http://schemas.microsoft.com/office/drawing/2014/main" id="{C5FD063D-AB59-4639-2E31-AB2161A27FAC}"/>
              </a:ext>
            </a:extLst>
          </p:cNvPr>
          <p:cNvSpPr/>
          <p:nvPr/>
        </p:nvSpPr>
        <p:spPr>
          <a:xfrm>
            <a:off x="535432" y="303580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700" dirty="0"/>
          </a:p>
        </p:txBody>
      </p:sp>
      <p:sp>
        <p:nvSpPr>
          <p:cNvPr id="133" name="Text 28">
            <a:extLst>
              <a:ext uri="{FF2B5EF4-FFF2-40B4-BE49-F238E27FC236}">
                <a16:creationId xmlns:a16="http://schemas.microsoft.com/office/drawing/2014/main" id="{3F742A34-5E0D-0D14-C4A6-05047EF29779}"/>
              </a:ext>
            </a:extLst>
          </p:cNvPr>
          <p:cNvSpPr/>
          <p:nvPr/>
        </p:nvSpPr>
        <p:spPr>
          <a:xfrm>
            <a:off x="535432" y="33101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700" dirty="0"/>
          </a:p>
        </p:txBody>
      </p:sp>
      <p:sp>
        <p:nvSpPr>
          <p:cNvPr id="134" name="Shape 27">
            <a:extLst>
              <a:ext uri="{FF2B5EF4-FFF2-40B4-BE49-F238E27FC236}">
                <a16:creationId xmlns:a16="http://schemas.microsoft.com/office/drawing/2014/main" id="{F7E80884-EEEB-9D6F-5479-42E9D7F14741}"/>
              </a:ext>
            </a:extLst>
          </p:cNvPr>
          <p:cNvSpPr/>
          <p:nvPr/>
        </p:nvSpPr>
        <p:spPr>
          <a:xfrm>
            <a:off x="548640" y="4369308"/>
            <a:ext cx="594360" cy="164592"/>
          </a:xfrm>
          <a:prstGeom prst="rect">
            <a:avLst/>
          </a:prstGeom>
          <a:solidFill>
            <a:srgbClr val="2ECC71">
              <a:alpha val="20000"/>
            </a:srgb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35" name="Text 28">
            <a:extLst>
              <a:ext uri="{FF2B5EF4-FFF2-40B4-BE49-F238E27FC236}">
                <a16:creationId xmlns:a16="http://schemas.microsoft.com/office/drawing/2014/main" id="{895A5CCF-72FA-0A70-9AEC-E2FFC62D5458}"/>
              </a:ext>
            </a:extLst>
          </p:cNvPr>
          <p:cNvSpPr/>
          <p:nvPr/>
        </p:nvSpPr>
        <p:spPr>
          <a:xfrm>
            <a:off x="553720" y="434644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700" dirty="0"/>
          </a:p>
        </p:txBody>
      </p:sp>
      <p:sp>
        <p:nvSpPr>
          <p:cNvPr id="136" name="Shape 41">
            <a:extLst>
              <a:ext uri="{FF2B5EF4-FFF2-40B4-BE49-F238E27FC236}">
                <a16:creationId xmlns:a16="http://schemas.microsoft.com/office/drawing/2014/main" id="{13DC99CC-B775-C546-ABFE-8F0BD023E557}"/>
              </a:ext>
            </a:extLst>
          </p:cNvPr>
          <p:cNvSpPr/>
          <p:nvPr/>
        </p:nvSpPr>
        <p:spPr>
          <a:xfrm>
            <a:off x="553720" y="4660392"/>
            <a:ext cx="594360" cy="164592"/>
          </a:xfrm>
          <a:prstGeom prst="rect">
            <a:avLst/>
          </a:prstGeom>
          <a:solidFill>
            <a:srgbClr val="F1C40F">
              <a:alpha val="20000"/>
            </a:srgb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37" name="Text 48">
            <a:extLst>
              <a:ext uri="{FF2B5EF4-FFF2-40B4-BE49-F238E27FC236}">
                <a16:creationId xmlns:a16="http://schemas.microsoft.com/office/drawing/2014/main" id="{E30214B4-E81B-DC69-0152-273139512F6C}"/>
              </a:ext>
            </a:extLst>
          </p:cNvPr>
          <p:cNvSpPr/>
          <p:nvPr/>
        </p:nvSpPr>
        <p:spPr>
          <a:xfrm>
            <a:off x="541528" y="4626864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00" b="1" dirty="0">
                <a:solidFill>
                  <a:srgbClr val="F1C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1074</TotalTime>
  <Words>284</Words>
  <Application>Microsoft Office PowerPoint</Application>
  <PresentationFormat>On-screen Show (16:9)</PresentationFormat>
  <Paragraphs>74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Trebuchet MS</vt:lpstr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ECE 554 Capstone Progress Check-In</dc:title>
  <dc:subject>PptxGenJS Presentation</dc:subject>
  <dc:creator>Guns 'n Lasers</dc:creator>
  <cp:lastModifiedBy>Kshitij Pandey</cp:lastModifiedBy>
  <cp:revision>3</cp:revision>
  <dcterms:created xsi:type="dcterms:W3CDTF">2026-03-24T20:25:31Z</dcterms:created>
  <dcterms:modified xsi:type="dcterms:W3CDTF">2026-04-09T20:49:34Z</dcterms:modified>
</cp:coreProperties>
</file>