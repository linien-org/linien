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64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D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Guns 'n Lasers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9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554 Capstone - Progress Check-In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TTL-triggered waveform sequencer on the Red Pitaya, extending Linien's FPGA gateware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Kshitij Pandey  ·  Vedaant Nookala  ·  Ethan Li  ·  Tejas Babel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Steven Carpenter (PhD)  ·  Prof. Jennifer Choy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F9D9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D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breakdown &amp; status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852160" y="164592"/>
            <a:ext cx="182880" cy="18288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80760" y="118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675120" y="164592"/>
            <a:ext cx="182880" cy="182880"/>
          </a:xfrm>
          <a:prstGeom prst="rect">
            <a:avLst/>
          </a:prstGeom>
          <a:solidFill>
            <a:srgbClr val="F1C4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903720" y="118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0" y="164592"/>
            <a:ext cx="182880" cy="182880"/>
          </a:xfrm>
          <a:prstGeom prst="rect">
            <a:avLst/>
          </a:prstGeom>
          <a:solidFill>
            <a:srgbClr val="7F8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01000" y="118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25880" y="457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92040" y="457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63640" y="457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solidFill>
            <a:srgbClr val="1C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6583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9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ARCHITECTURE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868680"/>
            <a:ext cx="8229600" cy="246888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905256"/>
            <a:ext cx="594360" cy="164592"/>
          </a:xfrm>
          <a:prstGeom prst="rect">
            <a:avLst/>
          </a:prstGeom>
          <a:solidFill>
            <a:srgbClr val="2ECC7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8869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280160" y="87782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microarchitecture doc (updated)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8778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Kshitij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8778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specified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1143000"/>
            <a:ext cx="8229600" cy="246888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1179576"/>
            <a:ext cx="594360" cy="164592"/>
          </a:xfrm>
          <a:prstGeom prst="rect">
            <a:avLst/>
          </a:prstGeom>
          <a:solidFill>
            <a:srgbClr val="2ECC7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11612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280160" y="11521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block diagram + signals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115214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3640" y="11521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w/ team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1417320"/>
            <a:ext cx="8229600" cy="246888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8640" y="1453896"/>
            <a:ext cx="594360" cy="164592"/>
          </a:xfrm>
          <a:prstGeom prst="rect">
            <a:avLst/>
          </a:prstGeom>
          <a:solidFill>
            <a:srgbClr val="2ECC71">
              <a:alpha val="2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48640" y="14356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280160" y="142646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spec + function block interface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14264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Vedaant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14264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i_/o_ convention, param bus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1691640"/>
            <a:ext cx="8229600" cy="201168"/>
          </a:xfrm>
          <a:prstGeom prst="rect">
            <a:avLst/>
          </a:prstGeom>
          <a:solidFill>
            <a:srgbClr val="1C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1691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9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MODULES (MIGEN)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1920240"/>
            <a:ext cx="8229600" cy="246888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48640" y="1938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280160" y="192938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ttl_handler + tb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92040" y="19293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Kshitij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63640" y="19293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sync, snapshot, FSM, edge cases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2194560"/>
            <a:ext cx="8229600" cy="246888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48640" y="221284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280160" y="220370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sequence_fsm (dispatch + mux)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92040" y="22037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(Mostly Ethan)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63640" y="220370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loading logic in progress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7200" y="2468880"/>
            <a:ext cx="8229600" cy="246888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48640" y="24871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280160" y="247802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ramp_gen (accumulator + target check)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92040" y="24780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63640" y="24780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timer, golden model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2743200"/>
            <a:ext cx="8229600" cy="246888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48640" y="27614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280160" y="27523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jump / delay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92040" y="275234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263640" y="27523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counters + linien CORDIC reuse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7200" y="3017520"/>
            <a:ext cx="8229600" cy="246888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48640" y="30358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1280160" y="302666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Sinusoid / </a:t>
            </a:r>
            <a:r>
              <a:rPr lang="en-US" sz="9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chirp_gen</a:t>
            </a: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(variable NCO)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892040" y="30266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263640" y="30266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linien CORDIC hookup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7200" y="3291840"/>
            <a:ext cx="8229600" cy="246888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48640" y="33101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1280160" y="330098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arb_wfm_gen (BRAM + clk divider)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892040" y="33009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263640" y="33009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write path first, AXI later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57200" y="3566160"/>
            <a:ext cx="8229600" cy="246888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48640" y="3602736"/>
            <a:ext cx="594360" cy="164592"/>
          </a:xfrm>
          <a:prstGeom prst="rect">
            <a:avLst/>
          </a:prstGeom>
          <a:solidFill>
            <a:srgbClr val="7F8C8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48640" y="358444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280160" y="357530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pzt_overdrive (reach goal)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892040" y="35753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263640" y="357530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core blocks being done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57200" y="3840480"/>
            <a:ext cx="8229600" cy="201168"/>
          </a:xfrm>
          <a:prstGeom prst="rect">
            <a:avLst/>
          </a:prstGeom>
          <a:solidFill>
            <a:srgbClr val="1C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548640" y="3840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9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SOFTWARE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57200" y="4069080"/>
            <a:ext cx="8229600" cy="246888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548640" y="40873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1280160" y="407822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relock (sweep + autolock handshake)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892040" y="40782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Kshitij + Ethan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263640" y="40782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trace linien autolock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57200" y="4343400"/>
            <a:ext cx="8229600" cy="246888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1280160" y="43525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TB (full 2-block sequence)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4892040" y="435254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263640" y="43525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model + cycle-accurate check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57200" y="4617720"/>
            <a:ext cx="8229600" cy="246888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548640" y="46360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1280160" y="462686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extension + server/compiler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4892040" y="46268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Vedaant/Tejas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263640" y="46268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RTL is solid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548640" y="4928616"/>
            <a:ext cx="594360" cy="164592"/>
          </a:xfrm>
          <a:prstGeom prst="rect">
            <a:avLst/>
          </a:prstGeom>
          <a:solidFill>
            <a:srgbClr val="7F8C8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548640" y="49103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1280160" y="490118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test on Red Pitaya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489204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263640" y="49011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lab sessions in April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F9D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44">
            <a:extLst>
              <a:ext uri="{FF2B5EF4-FFF2-40B4-BE49-F238E27FC236}">
                <a16:creationId xmlns:a16="http://schemas.microsoft.com/office/drawing/2014/main" id="{0237A8B9-4DDC-D159-045A-FD8F732998C1}"/>
              </a:ext>
            </a:extLst>
          </p:cNvPr>
          <p:cNvSpPr/>
          <p:nvPr/>
        </p:nvSpPr>
        <p:spPr>
          <a:xfrm>
            <a:off x="4892040" y="27477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</a:t>
            </a:r>
            <a:endParaRPr lang="en-US" sz="900" dirty="0"/>
          </a:p>
        </p:txBody>
      </p:sp>
      <p:sp>
        <p:nvSpPr>
          <p:cNvPr id="107" name="Text 44">
            <a:extLst>
              <a:ext uri="{FF2B5EF4-FFF2-40B4-BE49-F238E27FC236}">
                <a16:creationId xmlns:a16="http://schemas.microsoft.com/office/drawing/2014/main" id="{2AD270D3-8801-2BD6-796D-D4FE28CC7361}"/>
              </a:ext>
            </a:extLst>
          </p:cNvPr>
          <p:cNvSpPr/>
          <p:nvPr/>
        </p:nvSpPr>
        <p:spPr>
          <a:xfrm>
            <a:off x="4892040" y="32964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Vedaant</a:t>
            </a:r>
            <a:endParaRPr lang="en-US" sz="900" dirty="0"/>
          </a:p>
        </p:txBody>
      </p:sp>
      <p:sp>
        <p:nvSpPr>
          <p:cNvPr id="108" name="Text 44">
            <a:extLst>
              <a:ext uri="{FF2B5EF4-FFF2-40B4-BE49-F238E27FC236}">
                <a16:creationId xmlns:a16="http://schemas.microsoft.com/office/drawing/2014/main" id="{566445FA-2829-72E8-A864-67ACEDD31A50}"/>
              </a:ext>
            </a:extLst>
          </p:cNvPr>
          <p:cNvSpPr/>
          <p:nvPr/>
        </p:nvSpPr>
        <p:spPr>
          <a:xfrm>
            <a:off x="4892040" y="30266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 &amp; Tejas (Mostly Tejas)</a:t>
            </a:r>
            <a:endParaRPr lang="en-US" sz="900" dirty="0"/>
          </a:p>
        </p:txBody>
      </p:sp>
      <p:sp>
        <p:nvSpPr>
          <p:cNvPr id="109" name="Text 38">
            <a:extLst>
              <a:ext uri="{FF2B5EF4-FFF2-40B4-BE49-F238E27FC236}">
                <a16:creationId xmlns:a16="http://schemas.microsoft.com/office/drawing/2014/main" id="{3EF7318A-542F-B1E3-06CB-5463EBEB07EC}"/>
              </a:ext>
            </a:extLst>
          </p:cNvPr>
          <p:cNvSpPr/>
          <p:nvPr/>
        </p:nvSpPr>
        <p:spPr>
          <a:xfrm>
            <a:off x="4892040" y="248259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Kshitij</a:t>
            </a:r>
            <a:endParaRPr lang="en-US" sz="900" dirty="0"/>
          </a:p>
        </p:txBody>
      </p:sp>
      <p:sp>
        <p:nvSpPr>
          <p:cNvPr id="113" name="Text 48">
            <a:extLst>
              <a:ext uri="{FF2B5EF4-FFF2-40B4-BE49-F238E27FC236}">
                <a16:creationId xmlns:a16="http://schemas.microsoft.com/office/drawing/2014/main" id="{C837FC6B-E1C6-17A2-FB18-B043F8EB8BC6}"/>
              </a:ext>
            </a:extLst>
          </p:cNvPr>
          <p:cNvSpPr/>
          <p:nvPr/>
        </p:nvSpPr>
        <p:spPr>
          <a:xfrm>
            <a:off x="543560" y="27614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14" name="Text 48">
            <a:extLst>
              <a:ext uri="{FF2B5EF4-FFF2-40B4-BE49-F238E27FC236}">
                <a16:creationId xmlns:a16="http://schemas.microsoft.com/office/drawing/2014/main" id="{F5B7F9E1-64D0-3085-2834-FD6640EE7CCA}"/>
              </a:ext>
            </a:extLst>
          </p:cNvPr>
          <p:cNvSpPr/>
          <p:nvPr/>
        </p:nvSpPr>
        <p:spPr>
          <a:xfrm>
            <a:off x="548640" y="30358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15" name="Text 48">
            <a:extLst>
              <a:ext uri="{FF2B5EF4-FFF2-40B4-BE49-F238E27FC236}">
                <a16:creationId xmlns:a16="http://schemas.microsoft.com/office/drawing/2014/main" id="{10E10A8B-93AE-042F-3F68-F5A7F4675A35}"/>
              </a:ext>
            </a:extLst>
          </p:cNvPr>
          <p:cNvSpPr/>
          <p:nvPr/>
        </p:nvSpPr>
        <p:spPr>
          <a:xfrm>
            <a:off x="553720" y="33014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19" name="Text 48">
            <a:extLst>
              <a:ext uri="{FF2B5EF4-FFF2-40B4-BE49-F238E27FC236}">
                <a16:creationId xmlns:a16="http://schemas.microsoft.com/office/drawing/2014/main" id="{1715FB0B-0383-5712-3113-1A525014ECF3}"/>
              </a:ext>
            </a:extLst>
          </p:cNvPr>
          <p:cNvSpPr/>
          <p:nvPr/>
        </p:nvSpPr>
        <p:spPr>
          <a:xfrm>
            <a:off x="548640" y="43571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700" dirty="0"/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AC3274C3-8EC2-4CA8-A64B-EEDA3F68ED56}"/>
              </a:ext>
            </a:extLst>
          </p:cNvPr>
          <p:cNvSpPr/>
          <p:nvPr/>
        </p:nvSpPr>
        <p:spPr>
          <a:xfrm>
            <a:off x="548640" y="1952244"/>
            <a:ext cx="594360" cy="164592"/>
          </a:xfrm>
          <a:prstGeom prst="rect">
            <a:avLst/>
          </a:prstGeom>
          <a:solidFill>
            <a:srgbClr val="2ECC7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8958C1FE-E565-17D7-A7A9-4B58E1B4E7B0}"/>
              </a:ext>
            </a:extLst>
          </p:cNvPr>
          <p:cNvSpPr/>
          <p:nvPr/>
        </p:nvSpPr>
        <p:spPr>
          <a:xfrm>
            <a:off x="548640" y="2226564"/>
            <a:ext cx="594360" cy="164592"/>
          </a:xfrm>
          <a:prstGeom prst="rect">
            <a:avLst/>
          </a:prstGeom>
          <a:solidFill>
            <a:srgbClr val="2ECC7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27">
            <a:extLst>
              <a:ext uri="{FF2B5EF4-FFF2-40B4-BE49-F238E27FC236}">
                <a16:creationId xmlns:a16="http://schemas.microsoft.com/office/drawing/2014/main" id="{27E1D297-2993-ED94-17F8-BCE151FD785C}"/>
              </a:ext>
            </a:extLst>
          </p:cNvPr>
          <p:cNvSpPr/>
          <p:nvPr/>
        </p:nvSpPr>
        <p:spPr>
          <a:xfrm>
            <a:off x="548640" y="2500884"/>
            <a:ext cx="594360" cy="164592"/>
          </a:xfrm>
          <a:prstGeom prst="rect">
            <a:avLst/>
          </a:prstGeom>
          <a:solidFill>
            <a:srgbClr val="2ECC71">
              <a:alpha val="2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8" name="Shape 15">
            <a:extLst>
              <a:ext uri="{FF2B5EF4-FFF2-40B4-BE49-F238E27FC236}">
                <a16:creationId xmlns:a16="http://schemas.microsoft.com/office/drawing/2014/main" id="{74DE9B6E-9CE4-F3F7-5A08-793D0665CB64}"/>
              </a:ext>
            </a:extLst>
          </p:cNvPr>
          <p:cNvSpPr/>
          <p:nvPr/>
        </p:nvSpPr>
        <p:spPr>
          <a:xfrm>
            <a:off x="553720" y="2777236"/>
            <a:ext cx="594360" cy="164592"/>
          </a:xfrm>
          <a:prstGeom prst="rect">
            <a:avLst/>
          </a:prstGeom>
          <a:solidFill>
            <a:srgbClr val="2ECC7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21">
            <a:extLst>
              <a:ext uri="{FF2B5EF4-FFF2-40B4-BE49-F238E27FC236}">
                <a16:creationId xmlns:a16="http://schemas.microsoft.com/office/drawing/2014/main" id="{5D7E4D60-1946-BFD1-5B86-197281C07273}"/>
              </a:ext>
            </a:extLst>
          </p:cNvPr>
          <p:cNvSpPr/>
          <p:nvPr/>
        </p:nvSpPr>
        <p:spPr>
          <a:xfrm>
            <a:off x="553720" y="3051556"/>
            <a:ext cx="594360" cy="164592"/>
          </a:xfrm>
          <a:prstGeom prst="rect">
            <a:avLst/>
          </a:prstGeom>
          <a:solidFill>
            <a:srgbClr val="2ECC7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27">
            <a:extLst>
              <a:ext uri="{FF2B5EF4-FFF2-40B4-BE49-F238E27FC236}">
                <a16:creationId xmlns:a16="http://schemas.microsoft.com/office/drawing/2014/main" id="{64D344BB-CAB7-9DC5-933D-1793672A308C}"/>
              </a:ext>
            </a:extLst>
          </p:cNvPr>
          <p:cNvSpPr/>
          <p:nvPr/>
        </p:nvSpPr>
        <p:spPr>
          <a:xfrm>
            <a:off x="553720" y="3325876"/>
            <a:ext cx="594360" cy="164592"/>
          </a:xfrm>
          <a:prstGeom prst="rect">
            <a:avLst/>
          </a:prstGeom>
          <a:solidFill>
            <a:srgbClr val="2ECC71">
              <a:alpha val="2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8" name="Text 16">
            <a:extLst>
              <a:ext uri="{FF2B5EF4-FFF2-40B4-BE49-F238E27FC236}">
                <a16:creationId xmlns:a16="http://schemas.microsoft.com/office/drawing/2014/main" id="{B35E9726-EA71-D0FD-918F-193C0E1BA9A9}"/>
              </a:ext>
            </a:extLst>
          </p:cNvPr>
          <p:cNvSpPr/>
          <p:nvPr/>
        </p:nvSpPr>
        <p:spPr>
          <a:xfrm>
            <a:off x="543560" y="19293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129" name="Text 22">
            <a:extLst>
              <a:ext uri="{FF2B5EF4-FFF2-40B4-BE49-F238E27FC236}">
                <a16:creationId xmlns:a16="http://schemas.microsoft.com/office/drawing/2014/main" id="{2C493311-8E8B-B184-F602-C680D4629059}"/>
              </a:ext>
            </a:extLst>
          </p:cNvPr>
          <p:cNvSpPr/>
          <p:nvPr/>
        </p:nvSpPr>
        <p:spPr>
          <a:xfrm>
            <a:off x="543560" y="220370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130" name="Text 28">
            <a:extLst>
              <a:ext uri="{FF2B5EF4-FFF2-40B4-BE49-F238E27FC236}">
                <a16:creationId xmlns:a16="http://schemas.microsoft.com/office/drawing/2014/main" id="{7235C198-ED7F-23E2-766C-B40F13BA0149}"/>
              </a:ext>
            </a:extLst>
          </p:cNvPr>
          <p:cNvSpPr/>
          <p:nvPr/>
        </p:nvSpPr>
        <p:spPr>
          <a:xfrm>
            <a:off x="543560" y="24780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131" name="Text 16">
            <a:extLst>
              <a:ext uri="{FF2B5EF4-FFF2-40B4-BE49-F238E27FC236}">
                <a16:creationId xmlns:a16="http://schemas.microsoft.com/office/drawing/2014/main" id="{EEF9F1A4-785F-ED40-588C-63081F5B120C}"/>
              </a:ext>
            </a:extLst>
          </p:cNvPr>
          <p:cNvSpPr/>
          <p:nvPr/>
        </p:nvSpPr>
        <p:spPr>
          <a:xfrm>
            <a:off x="535432" y="27614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132" name="Text 22">
            <a:extLst>
              <a:ext uri="{FF2B5EF4-FFF2-40B4-BE49-F238E27FC236}">
                <a16:creationId xmlns:a16="http://schemas.microsoft.com/office/drawing/2014/main" id="{C5FD063D-AB59-4639-2E31-AB2161A27FAC}"/>
              </a:ext>
            </a:extLst>
          </p:cNvPr>
          <p:cNvSpPr/>
          <p:nvPr/>
        </p:nvSpPr>
        <p:spPr>
          <a:xfrm>
            <a:off x="535432" y="30358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133" name="Text 28">
            <a:extLst>
              <a:ext uri="{FF2B5EF4-FFF2-40B4-BE49-F238E27FC236}">
                <a16:creationId xmlns:a16="http://schemas.microsoft.com/office/drawing/2014/main" id="{3F742A34-5E0D-0D14-C4A6-05047EF29779}"/>
              </a:ext>
            </a:extLst>
          </p:cNvPr>
          <p:cNvSpPr/>
          <p:nvPr/>
        </p:nvSpPr>
        <p:spPr>
          <a:xfrm>
            <a:off x="535432" y="33101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134" name="Shape 27">
            <a:extLst>
              <a:ext uri="{FF2B5EF4-FFF2-40B4-BE49-F238E27FC236}">
                <a16:creationId xmlns:a16="http://schemas.microsoft.com/office/drawing/2014/main" id="{F7E80884-EEEB-9D6F-5479-42E9D7F14741}"/>
              </a:ext>
            </a:extLst>
          </p:cNvPr>
          <p:cNvSpPr/>
          <p:nvPr/>
        </p:nvSpPr>
        <p:spPr>
          <a:xfrm>
            <a:off x="548640" y="4369308"/>
            <a:ext cx="594360" cy="164592"/>
          </a:xfrm>
          <a:prstGeom prst="rect">
            <a:avLst/>
          </a:prstGeom>
          <a:solidFill>
            <a:srgbClr val="2ECC71">
              <a:alpha val="2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5" name="Text 28">
            <a:extLst>
              <a:ext uri="{FF2B5EF4-FFF2-40B4-BE49-F238E27FC236}">
                <a16:creationId xmlns:a16="http://schemas.microsoft.com/office/drawing/2014/main" id="{895A5CCF-72FA-0A70-9AEC-E2FFC62D5458}"/>
              </a:ext>
            </a:extLst>
          </p:cNvPr>
          <p:cNvSpPr/>
          <p:nvPr/>
        </p:nvSpPr>
        <p:spPr>
          <a:xfrm>
            <a:off x="553720" y="434644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136" name="Shape 41">
            <a:extLst>
              <a:ext uri="{FF2B5EF4-FFF2-40B4-BE49-F238E27FC236}">
                <a16:creationId xmlns:a16="http://schemas.microsoft.com/office/drawing/2014/main" id="{13DC99CC-B775-C546-ABFE-8F0BD023E557}"/>
              </a:ext>
            </a:extLst>
          </p:cNvPr>
          <p:cNvSpPr/>
          <p:nvPr/>
        </p:nvSpPr>
        <p:spPr>
          <a:xfrm>
            <a:off x="553720" y="4660392"/>
            <a:ext cx="594360" cy="164592"/>
          </a:xfrm>
          <a:prstGeom prst="rect">
            <a:avLst/>
          </a:prstGeom>
          <a:solidFill>
            <a:srgbClr val="F1C40F">
              <a:alpha val="2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7" name="Text 48">
            <a:extLst>
              <a:ext uri="{FF2B5EF4-FFF2-40B4-BE49-F238E27FC236}">
                <a16:creationId xmlns:a16="http://schemas.microsoft.com/office/drawing/2014/main" id="{E30214B4-E81B-DC69-0152-273139512F6C}"/>
              </a:ext>
            </a:extLst>
          </p:cNvPr>
          <p:cNvSpPr/>
          <p:nvPr/>
        </p:nvSpPr>
        <p:spPr>
          <a:xfrm>
            <a:off x="541528" y="46268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</a:t>
            </a:r>
            <a:endParaRPr lang="en-US" sz="700" dirty="0"/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E47BFD65-7E54-DC55-FBAB-948C0AD31936}"/>
              </a:ext>
            </a:extLst>
          </p:cNvPr>
          <p:cNvSpPr/>
          <p:nvPr/>
        </p:nvSpPr>
        <p:spPr>
          <a:xfrm>
            <a:off x="567648" y="4091092"/>
            <a:ext cx="594360" cy="164592"/>
          </a:xfrm>
          <a:prstGeom prst="rect">
            <a:avLst/>
          </a:prstGeom>
          <a:solidFill>
            <a:srgbClr val="2ECC71">
              <a:alpha val="2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3" name="Text 28">
            <a:extLst>
              <a:ext uri="{FF2B5EF4-FFF2-40B4-BE49-F238E27FC236}">
                <a16:creationId xmlns:a16="http://schemas.microsoft.com/office/drawing/2014/main" id="{1213F7BC-CE34-CC3B-D0BB-B862A8607A9D}"/>
              </a:ext>
            </a:extLst>
          </p:cNvPr>
          <p:cNvSpPr/>
          <p:nvPr/>
        </p:nvSpPr>
        <p:spPr>
          <a:xfrm>
            <a:off x="548640" y="40690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</TotalTime>
  <Words>283</Words>
  <Application>Microsoft Office PowerPoint</Application>
  <PresentationFormat>On-screen Show (16:9)</PresentationFormat>
  <Paragraphs>74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Trebuchet MS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 554 Capstone Progress Check-In</dc:title>
  <dc:subject>PptxGenJS Presentation</dc:subject>
  <dc:creator>Guns 'n Lasers</dc:creator>
  <cp:lastModifiedBy>Kshitij Pandey</cp:lastModifiedBy>
  <cp:revision>4</cp:revision>
  <dcterms:created xsi:type="dcterms:W3CDTF">2026-03-24T20:25:31Z</dcterms:created>
  <dcterms:modified xsi:type="dcterms:W3CDTF">2026-04-14T19:45:37Z</dcterms:modified>
</cp:coreProperties>
</file>